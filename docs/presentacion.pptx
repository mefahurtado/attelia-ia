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6" r:id="rId17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418320" y="-548640"/>
            <a:ext cx="3749039" cy="8046720"/>
          </a:xfrm>
          <a:prstGeom prst="roundRect">
            <a:avLst/>
          </a:prstGeom>
          <a:solidFill>
            <a:srgbClr val="28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0" y="228600"/>
            <a:ext cx="1143000" cy="1143000"/>
          </a:xfrm>
          <a:prstGeom prst="roundRect">
            <a:avLst/>
          </a:prstGeom>
          <a:solidFill>
            <a:srgbClr val="AD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033271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300" b="1" i="0">
                <a:solidFill>
                  <a:srgbClr val="DAC59B"/>
                </a:solidFill>
                <a:latin typeface="DejaVu Sans"/>
              </a:defRPr>
            </a:pPr>
            <a:r>
              <a:t>TRABAJO FINAL  /  LANGCHAIN · LANGGRAPH ·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10512"/>
            <a:ext cx="82296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5400" b="1" i="0">
                <a:solidFill>
                  <a:srgbClr val="FFFFFF"/>
                </a:solidFill>
                <a:latin typeface="DejaVu Sans"/>
              </a:defRPr>
            </a:pPr>
            <a:r>
              <a:t>AtteliA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82112"/>
            <a:ext cx="864108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2500" b="0" i="0">
                <a:solidFill>
                  <a:srgbClr val="E1E7E0"/>
                </a:solidFill>
                <a:latin typeface="DejaVu Sans"/>
              </a:defRPr>
            </a:pPr>
            <a:r>
              <a:t>Tu asesora inteligente de moda,</a:t>
            </a:r>
          </a:p>
          <a:p>
            <a:pPr>
              <a:spcAft>
                <a:spcPts val="600"/>
              </a:spcAft>
              <a:defRPr sz="2500" b="0" i="0">
                <a:solidFill>
                  <a:srgbClr val="E1E7E0"/>
                </a:solidFill>
                <a:latin typeface="DejaVu Sans"/>
              </a:defRPr>
            </a:pPr>
            <a:r>
              <a:t>con respuestas respaldadas por documentos.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5303520"/>
            <a:ext cx="3154680" cy="54864"/>
          </a:xfrm>
          <a:prstGeom prst="rect">
            <a:avLst/>
          </a:prstGeom>
          <a:solidFill>
            <a:srgbClr val="AD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632704"/>
            <a:ext cx="6400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200" b="1" i="0">
                <a:solidFill>
                  <a:srgbClr val="C5CFCB"/>
                </a:solidFill>
                <a:latin typeface="DejaVu Sans"/>
              </a:defRPr>
            </a:pPr>
            <a:r>
              <a:t>INTEGRANTE(S): [COMPLETAR]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3184" y="605332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  <a:defRPr sz="1000" b="1" i="0">
                <a:solidFill>
                  <a:srgbClr val="E0D2B7"/>
                </a:solidFill>
                <a:latin typeface="DejaVu Sans"/>
              </a:defRPr>
            </a:pPr>
            <a:r>
              <a:t>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21207"/>
            <a:ext cx="109728" cy="237744"/>
          </a:xfrm>
          <a:prstGeom prst="rect">
            <a:avLst/>
          </a:prstGeom>
          <a:solidFill>
            <a:srgbClr val="AD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49377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AD8C56"/>
                </a:solidFill>
                <a:latin typeface="DejaVu Sans"/>
              </a:defRPr>
            </a:pPr>
            <a:r>
              <a:t>TRABAJO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1F2D2D"/>
                </a:solidFill>
                <a:latin typeface="DejaVu Sans"/>
              </a:defRPr>
            </a:pPr>
            <a:r>
              <a:t>El problema: IA sin evidencia verificable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91656"/>
            <a:ext cx="10936224" cy="13716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37376"/>
            <a:ext cx="82296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800" b="1" i="0">
                <a:solidFill>
                  <a:srgbClr val="6F7A77"/>
                </a:solidFill>
                <a:latin typeface="DejaVu Sans"/>
              </a:defRPr>
            </a:pPr>
            <a:r>
              <a:t>ATTELIA  /  ASESORA DOCUMENTAL DE MODA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816" y="6428232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F7A7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" y="1874519"/>
            <a:ext cx="3511296" cy="3310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" y="2130552"/>
            <a:ext cx="82296" cy="329184"/>
          </a:xfrm>
          <a:prstGeom prst="rect">
            <a:avLst/>
          </a:prstGeom>
          <a:solidFill>
            <a:srgbClr val="276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2075688"/>
            <a:ext cx="29260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1F2D2D"/>
                </a:solidFill>
                <a:latin typeface="DejaVu Sans"/>
              </a:defRPr>
            </a:pPr>
            <a:r>
              <a:t>Preguntas cotidianas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88336"/>
            <a:ext cx="3035808" cy="2350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1500" b="0" i="0">
                <a:solidFill>
                  <a:srgbClr val="6F7A77"/>
                </a:solidFill>
                <a:latin typeface="DejaVu Sans"/>
              </a:defRPr>
            </a:pPr>
            <a:r>
              <a:t>¿Qué colores combinan? ¿Qué calzado conviene? ¿Cómo aprovechar prendas existentes?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511296" cy="3310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44568" y="2130552"/>
            <a:ext cx="82296" cy="329184"/>
          </a:xfrm>
          <a:prstGeom prst="rect">
            <a:avLst/>
          </a:prstGeom>
          <a:solidFill>
            <a:srgbClr val="B6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075688"/>
            <a:ext cx="29260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1F2D2D"/>
                </a:solidFill>
                <a:latin typeface="DejaVu Sans"/>
              </a:defRPr>
            </a:pPr>
            <a:r>
              <a:t>Riesgo generativo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688336"/>
            <a:ext cx="3035808" cy="2350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1500" b="0" i="0">
                <a:solidFill>
                  <a:srgbClr val="6F7A77"/>
                </a:solidFill>
                <a:latin typeface="DejaVu Sans"/>
              </a:defRPr>
            </a:pPr>
            <a:r>
              <a:t>Un asistente puede improvisar consejos sin mostrar de dónde proviene la información.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493008" cy="3310128"/>
          </a:xfrm>
          <a:prstGeom prst="roundRect">
            <a:avLst/>
          </a:prstGeom>
          <a:solidFill>
            <a:srgbClr val="E4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2130552"/>
            <a:ext cx="82296" cy="329184"/>
          </a:xfrm>
          <a:prstGeom prst="rect">
            <a:avLst/>
          </a:prstGeom>
          <a:solidFill>
            <a:srgbClr val="276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2075688"/>
            <a:ext cx="2907791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1F2D2D"/>
                </a:solidFill>
                <a:latin typeface="DejaVu Sans"/>
              </a:defRPr>
            </a:pPr>
            <a:r>
              <a:t>Propuesta AtteliA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88336"/>
            <a:ext cx="3017520" cy="2350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1500" b="0" i="0">
                <a:solidFill>
                  <a:srgbClr val="6F7A77"/>
                </a:solidFill>
                <a:latin typeface="DejaVu Sans"/>
              </a:defRPr>
            </a:pPr>
            <a:r>
              <a:t>Responder con documentos recuperados, citar fuentes y rechazar cuando no haya sustento.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71500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600" b="1" i="0">
                <a:solidFill>
                  <a:srgbClr val="276D63"/>
                </a:solidFill>
                <a:latin typeface="DejaVu Sans"/>
              </a:defRPr>
            </a:pPr>
            <a:r>
              <a:t>OBJETIVO  →  Consulta confiable y base de conocimiento ampliable.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21207"/>
            <a:ext cx="109728" cy="237744"/>
          </a:xfrm>
          <a:prstGeom prst="rect">
            <a:avLst/>
          </a:prstGeom>
          <a:solidFill>
            <a:srgbClr val="AD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49377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AD8C56"/>
                </a:solidFill>
                <a:latin typeface="DejaVu Sans"/>
              </a:defRPr>
            </a:pPr>
            <a:r>
              <a:t>TRABAJO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1F2D2D"/>
                </a:solidFill>
                <a:latin typeface="DejaVu Sans"/>
              </a:defRPr>
            </a:pPr>
            <a:r>
              <a:t>Arquitectura: web + agente + modelo local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91656"/>
            <a:ext cx="10936224" cy="13716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37376"/>
            <a:ext cx="82296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800" b="1" i="0">
                <a:solidFill>
                  <a:srgbClr val="6F7A77"/>
                </a:solidFill>
                <a:latin typeface="DejaVu Sans"/>
              </a:defRPr>
            </a:pPr>
            <a:r>
              <a:t>ATTELIA  /  ASESORA DOCUMENTAL DE MODA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816" y="6428232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F7A77"/>
                </a:solidFill>
                <a:latin typeface="DejaVu Sans"/>
              </a:defRPr>
            </a:pPr>
            <a:r>
              <a:t>03</a:t>
            </a:r>
          </a:p>
        </p:txBody>
      </p:sp>
      <p:pic>
        <p:nvPicPr>
          <p:cNvPr id="8" name="Picture 7" descr="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47088"/>
            <a:ext cx="1097280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21207"/>
            <a:ext cx="109728" cy="237744"/>
          </a:xfrm>
          <a:prstGeom prst="rect">
            <a:avLst/>
          </a:prstGeom>
          <a:solidFill>
            <a:srgbClr val="AD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49377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AD8C56"/>
                </a:solidFill>
                <a:latin typeface="DejaVu Sans"/>
              </a:defRPr>
            </a:pPr>
            <a:r>
              <a:t>TRABAJO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1F2D2D"/>
                </a:solidFill>
                <a:latin typeface="DejaVu Sans"/>
              </a:defRPr>
            </a:pPr>
            <a:r>
              <a:t>Stack: componentes especializados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91656"/>
            <a:ext cx="10936224" cy="13716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37376"/>
            <a:ext cx="82296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800" b="1" i="0">
                <a:solidFill>
                  <a:srgbClr val="6F7A77"/>
                </a:solidFill>
                <a:latin typeface="DejaVu Sans"/>
              </a:defRPr>
            </a:pPr>
            <a:r>
              <a:t>ATTELIA  /  ASESORA DOCUMENTAL DE MODA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816" y="6428232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F7A7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621024" cy="1581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02536"/>
            <a:ext cx="3218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AD8C56"/>
                </a:solidFill>
                <a:latin typeface="DejaVu San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5000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1F2D2D"/>
                </a:solidFill>
                <a:latin typeface="DejaVu Sans"/>
              </a:defRPr>
            </a:pPr>
            <a:r>
              <a:t>React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71215"/>
            <a:ext cx="32186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6F7A77"/>
                </a:solidFill>
                <a:latin typeface="DejaVu Sans"/>
              </a:defRPr>
            </a:pPr>
            <a:r>
              <a:t>Experiencia conversacional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874519"/>
            <a:ext cx="3621024" cy="1581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5736" y="2002536"/>
            <a:ext cx="3218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AD8C56"/>
                </a:solidFill>
                <a:latin typeface="DejaVu Sans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235000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1F2D2D"/>
                </a:solidFill>
                <a:latin typeface="DejaVu Sans"/>
              </a:defRPr>
            </a:pPr>
            <a:r>
              <a:t>FastAPI + 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871215"/>
            <a:ext cx="32186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6F7A77"/>
                </a:solidFill>
                <a:latin typeface="DejaVu Sans"/>
              </a:defRPr>
            </a:pPr>
            <a:r>
              <a:t>REST, usuarios e historial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75904" y="1874519"/>
            <a:ext cx="3621024" cy="1581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2002536"/>
            <a:ext cx="3218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AD8C56"/>
                </a:solidFill>
                <a:latin typeface="DejaVu Sans"/>
              </a:defRPr>
            </a:pPr>
            <a:r>
              <a:t>GRAFO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235000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1F2D2D"/>
                </a:solidFill>
                <a:latin typeface="DejaVu Sans"/>
              </a:defRPr>
            </a:pPr>
            <a:r>
              <a:t>LangGraph + LangChain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871215"/>
            <a:ext cx="32186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6F7A77"/>
                </a:solidFill>
                <a:latin typeface="DejaVu Sans"/>
              </a:defRPr>
            </a:pPr>
            <a:r>
              <a:t>Decisiones y herramientas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03320"/>
            <a:ext cx="3621024" cy="1581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831335"/>
            <a:ext cx="3218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AD8C56"/>
                </a:solidFill>
                <a:latin typeface="DejaVu Sans"/>
              </a:defRPr>
            </a:pPr>
            <a:r>
              <a:t>LLM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17880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1F2D2D"/>
                </a:solidFill>
                <a:latin typeface="DejaVu Sans"/>
              </a:defRPr>
            </a:pPr>
            <a:r>
              <a:t>Ollama · qwen2.5:3b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700016"/>
            <a:ext cx="32186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6F7A77"/>
                </a:solidFill>
                <a:latin typeface="DejaVu Sans"/>
              </a:defRPr>
            </a:pPr>
            <a:r>
              <a:t>Generación en servidor propio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07992" y="3703320"/>
            <a:ext cx="3621024" cy="1581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45736" y="3831335"/>
            <a:ext cx="3218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AD8C56"/>
                </a:solidFill>
                <a:latin typeface="DejaVu Sans"/>
              </a:defRPr>
            </a:pPr>
            <a:r>
              <a:t>EMBEDDINGS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5736" y="417880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1F2D2D"/>
                </a:solidFill>
                <a:latin typeface="DejaVu Sans"/>
              </a:defRPr>
            </a:pPr>
            <a:r>
              <a:t>bge-m3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45736" y="4700016"/>
            <a:ext cx="32186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6F7A77"/>
                </a:solidFill>
                <a:latin typeface="DejaVu Sans"/>
              </a:defRPr>
            </a:pPr>
            <a:r>
              <a:t>Representaciones vectoriales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75904" y="3703320"/>
            <a:ext cx="3621024" cy="1581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13648" y="3831335"/>
            <a:ext cx="3218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AD8C56"/>
                </a:solidFill>
                <a:latin typeface="DejaVu Sans"/>
              </a:defRPr>
            </a:pPr>
            <a:r>
              <a:t>RETRIEVAL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417880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1F2D2D"/>
                </a:solidFill>
                <a:latin typeface="DejaVu Sans"/>
              </a:defRPr>
            </a:pPr>
            <a:r>
              <a:t>ChromaDB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4700016"/>
            <a:ext cx="32186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6F7A77"/>
                </a:solidFill>
                <a:latin typeface="DejaVu Sans"/>
              </a:defRPr>
            </a:pPr>
            <a:r>
              <a:t>Índice y fuentes persistentes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21207"/>
            <a:ext cx="109728" cy="237744"/>
          </a:xfrm>
          <a:prstGeom prst="rect">
            <a:avLst/>
          </a:prstGeom>
          <a:solidFill>
            <a:srgbClr val="AD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49377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AD8C56"/>
                </a:solidFill>
                <a:latin typeface="DejaVu Sans"/>
              </a:defRPr>
            </a:pPr>
            <a:r>
              <a:t>TRABAJO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1F2D2D"/>
                </a:solidFill>
                <a:latin typeface="DejaVu Sans"/>
              </a:defRPr>
            </a:pPr>
            <a:r>
              <a:t>LangGraph: responder o rechazar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91656"/>
            <a:ext cx="10936224" cy="13716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37376"/>
            <a:ext cx="82296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800" b="1" i="0">
                <a:solidFill>
                  <a:srgbClr val="6F7A77"/>
                </a:solidFill>
                <a:latin typeface="DejaVu Sans"/>
              </a:defRPr>
            </a:pPr>
            <a:r>
              <a:t>ATTELIA  /  ASESORA DOCUMENTAL DE MODA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816" y="6428232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F7A77"/>
                </a:solidFill>
                <a:latin typeface="DejaVu Sans"/>
              </a:defRPr>
            </a:pPr>
            <a:r>
              <a:t>05</a:t>
            </a:r>
          </a:p>
        </p:txBody>
      </p:sp>
      <p:pic>
        <p:nvPicPr>
          <p:cNvPr id="8" name="Picture 7" descr="lang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19072"/>
            <a:ext cx="10981944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5952744"/>
            <a:ext cx="106070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300" b="1" i="0">
                <a:solidFill>
                  <a:srgbClr val="276D63"/>
                </a:solidFill>
                <a:latin typeface="DejaVu Sans"/>
              </a:defRPr>
            </a:pPr>
            <a:r>
              <a:t>Ruta crítica: si NO hay contexto suficiente, la generación no se ejecuta.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21207"/>
            <a:ext cx="109728" cy="237744"/>
          </a:xfrm>
          <a:prstGeom prst="rect">
            <a:avLst/>
          </a:prstGeom>
          <a:solidFill>
            <a:srgbClr val="AD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49377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AD8C56"/>
                </a:solidFill>
                <a:latin typeface="DejaVu Sans"/>
              </a:defRPr>
            </a:pPr>
            <a:r>
              <a:t>TRABAJO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1F2D2D"/>
                </a:solidFill>
                <a:latin typeface="DejaVu Sans"/>
              </a:defRPr>
            </a:pPr>
            <a:r>
              <a:t>RAG incremental y base de conocimiento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91656"/>
            <a:ext cx="10936224" cy="13716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37376"/>
            <a:ext cx="82296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800" b="1" i="0">
                <a:solidFill>
                  <a:srgbClr val="6F7A77"/>
                </a:solidFill>
                <a:latin typeface="DejaVu Sans"/>
              </a:defRPr>
            </a:pPr>
            <a:r>
              <a:t>ATTELIA  /  ASESORA DOCUMENTAL DE MODA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816" y="6428232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F7A77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828800"/>
            <a:ext cx="32461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" y="2084832"/>
            <a:ext cx="82296" cy="329184"/>
          </a:xfrm>
          <a:prstGeom prst="rect">
            <a:avLst/>
          </a:prstGeom>
          <a:solidFill>
            <a:srgbClr val="AD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029968"/>
            <a:ext cx="266090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1F2D2D"/>
                </a:solidFill>
                <a:latin typeface="DejaVu Sans"/>
              </a:defRPr>
            </a:pPr>
            <a:r>
              <a:t>01 · Ingesta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642616"/>
            <a:ext cx="277063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6F7A77"/>
                </a:solidFill>
                <a:latin typeface="DejaVu Sans"/>
              </a:defRPr>
            </a:pPr>
            <a:r>
              <a:t>PDF · DOCX · TXT · Markdown · CSV. Extracción y fragmentación de texto.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9663" y="1828800"/>
            <a:ext cx="32461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1" y="2084832"/>
            <a:ext cx="82296" cy="329184"/>
          </a:xfrm>
          <a:prstGeom prst="rect">
            <a:avLst/>
          </a:prstGeom>
          <a:solidFill>
            <a:srgbClr val="276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5" y="2029968"/>
            <a:ext cx="266090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1F2D2D"/>
                </a:solidFill>
                <a:latin typeface="DejaVu Sans"/>
              </a:defRPr>
            </a:pPr>
            <a:r>
              <a:t>02 ·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642616"/>
            <a:ext cx="277063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6F7A77"/>
                </a:solidFill>
                <a:latin typeface="DejaVu Sans"/>
              </a:defRPr>
            </a:pPr>
            <a:r>
              <a:t>bge-m3 convierte fragmentos en vectores; ChromaDB los persiste por usuario.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71816" y="1828800"/>
            <a:ext cx="3831336" cy="2926080"/>
          </a:xfrm>
          <a:prstGeom prst="roundRect">
            <a:avLst/>
          </a:prstGeom>
          <a:solidFill>
            <a:srgbClr val="E4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72984" y="2084832"/>
            <a:ext cx="82296" cy="329184"/>
          </a:xfrm>
          <a:prstGeom prst="rect">
            <a:avLst/>
          </a:prstGeom>
          <a:solidFill>
            <a:srgbClr val="276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2029968"/>
            <a:ext cx="32461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1F2D2D"/>
                </a:solidFill>
                <a:latin typeface="DejaVu Sans"/>
              </a:defRPr>
            </a:pPr>
            <a:r>
              <a:t>03 · Recuperación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2642616"/>
            <a:ext cx="3355848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6F7A77"/>
                </a:solidFill>
                <a:latin typeface="DejaVu Sans"/>
              </a:defRPr>
            </a:pPr>
            <a:r>
              <a:t>Similitud + filtro léxico + umbral y fuentes. Sin evidencia → rechazo.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093208"/>
            <a:ext cx="10826496" cy="713232"/>
          </a:xfrm>
          <a:prstGeom prst="roundRect">
            <a:avLst/>
          </a:prstGeom>
          <a:solidFill>
            <a:srgbClr val="ED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193792"/>
            <a:ext cx="103418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  <a:defRPr sz="1600" b="1" i="0">
                <a:solidFill>
                  <a:srgbClr val="1F2D2D"/>
                </a:solidFill>
                <a:latin typeface="DejaVu Sans"/>
              </a:defRPr>
            </a:pPr>
            <a:r>
              <a:t>Corpus base: 6 volúmenes   +   documentos privados por cuenta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21207"/>
            <a:ext cx="109728" cy="237744"/>
          </a:xfrm>
          <a:prstGeom prst="rect">
            <a:avLst/>
          </a:prstGeom>
          <a:solidFill>
            <a:srgbClr val="AD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49377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AD8C56"/>
                </a:solidFill>
                <a:latin typeface="DejaVu Sans"/>
              </a:defRPr>
            </a:pPr>
            <a:r>
              <a:t>TRABAJO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1F2D2D"/>
                </a:solidFill>
                <a:latin typeface="DejaVu Sans"/>
              </a:defRPr>
            </a:pPr>
            <a:r>
              <a:t>Seguridad: cada usuario, sus documentos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91656"/>
            <a:ext cx="10936224" cy="13716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37376"/>
            <a:ext cx="82296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800" b="1" i="0">
                <a:solidFill>
                  <a:srgbClr val="6F7A77"/>
                </a:solidFill>
                <a:latin typeface="DejaVu Sans"/>
              </a:defRPr>
            </a:pPr>
            <a:r>
              <a:t>ATTELIA  /  ASESORA DOCUMENTAL DE MODA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816" y="6428232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F7A77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76672" cy="3502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7" y="2176272"/>
            <a:ext cx="82296" cy="329184"/>
          </a:xfrm>
          <a:prstGeom prst="rect">
            <a:avLst/>
          </a:prstGeom>
          <a:solidFill>
            <a:srgbClr val="276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121408"/>
            <a:ext cx="479145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1F2D2D"/>
                </a:solidFill>
                <a:latin typeface="DejaVu Sans"/>
              </a:defRPr>
            </a:pPr>
            <a:r>
              <a:t>Autenticación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734056"/>
            <a:ext cx="4901183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1500" b="0" i="0">
                <a:solidFill>
                  <a:srgbClr val="6F7A77"/>
                </a:solidFill>
                <a:latin typeface="DejaVu Sans"/>
              </a:defRPr>
            </a:pPr>
            <a:r>
              <a:t>Registro y login; contraseñas con scrypt y salt; sesión Bearer; expiración a los siete días.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20240"/>
            <a:ext cx="5349240" cy="3502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91655" y="2176272"/>
            <a:ext cx="82296" cy="329184"/>
          </a:xfrm>
          <a:prstGeom prst="rect">
            <a:avLst/>
          </a:prstGeom>
          <a:solidFill>
            <a:srgbClr val="AD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2121408"/>
            <a:ext cx="476402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1F2D2D"/>
                </a:solidFill>
                <a:latin typeface="DejaVu Sans"/>
              </a:defRPr>
            </a:pPr>
            <a:r>
              <a:t>Autorización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5" y="2734056"/>
            <a:ext cx="4873752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1500" b="0" i="0">
                <a:solidFill>
                  <a:srgbClr val="6F7A77"/>
                </a:solidFill>
                <a:latin typeface="DejaVu Sans"/>
              </a:defRPr>
            </a:pPr>
            <a:r>
              <a:t>API protegida; historial por usuario; metadatos SQLite; índices Chroma personales.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5788152"/>
            <a:ext cx="108447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276D63"/>
                </a:solidFill>
                <a:latin typeface="DejaVu Sans"/>
              </a:defRPr>
            </a:pPr>
            <a:r>
              <a:t>Producción: HTTPS con Caddy · credenciales fuera de Git · Ollama no expuesto.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21207"/>
            <a:ext cx="109728" cy="237744"/>
          </a:xfrm>
          <a:prstGeom prst="rect">
            <a:avLst/>
          </a:prstGeom>
          <a:solidFill>
            <a:srgbClr val="AD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49377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AD8C56"/>
                </a:solidFill>
                <a:latin typeface="DejaVu Sans"/>
              </a:defRPr>
            </a:pPr>
            <a:r>
              <a:t>TRABAJO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1F2D2D"/>
                </a:solidFill>
                <a:latin typeface="DejaVu Sans"/>
              </a:defRPr>
            </a:pPr>
            <a:r>
              <a:t>Demostración en vivo: tres escenarios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91656"/>
            <a:ext cx="10936224" cy="13716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37376"/>
            <a:ext cx="82296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800" b="1" i="0">
                <a:solidFill>
                  <a:srgbClr val="6F7A77"/>
                </a:solidFill>
                <a:latin typeface="DejaVu Sans"/>
              </a:defRPr>
            </a:pPr>
            <a:r>
              <a:t>ATTELIA  /  ASESORA DOCUMENTAL DE MODA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816" y="6428232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F7A77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511296" cy="3493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7" y="2130552"/>
            <a:ext cx="82296" cy="329184"/>
          </a:xfrm>
          <a:prstGeom prst="rect">
            <a:avLst/>
          </a:prstGeom>
          <a:solidFill>
            <a:srgbClr val="276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075688"/>
            <a:ext cx="29260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1F2D2D"/>
                </a:solidFill>
                <a:latin typeface="DejaVu Sans"/>
              </a:defRPr>
            </a:pPr>
            <a:r>
              <a:t>A · Respuesta válida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88336"/>
            <a:ext cx="3035808" cy="253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6F7A77"/>
                </a:solidFill>
                <a:latin typeface="DejaVu Sans"/>
              </a:defRPr>
            </a:pPr>
            <a:r>
              <a:t>Preguntar qué es un armario cápsula. Mostrar respuesta y nombre de la fuente.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874519"/>
            <a:ext cx="3511296" cy="3493008"/>
          </a:xfrm>
          <a:prstGeom prst="roundRect">
            <a:avLst/>
          </a:prstGeom>
          <a:solidFill>
            <a:srgbClr val="F3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2130552"/>
            <a:ext cx="82296" cy="329184"/>
          </a:xfrm>
          <a:prstGeom prst="rect">
            <a:avLst/>
          </a:prstGeom>
          <a:solidFill>
            <a:srgbClr val="AE6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2075688"/>
            <a:ext cx="29260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1F2D2D"/>
                </a:solidFill>
                <a:latin typeface="DejaVu Sans"/>
              </a:defRPr>
            </a:pPr>
            <a:r>
              <a:t>B · Rechazo explícito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688336"/>
            <a:ext cx="3035808" cy="253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6F7A77"/>
                </a:solidFill>
                <a:latin typeface="DejaVu Sans"/>
              </a:defRPr>
            </a:pPr>
            <a:r>
              <a:t>Preguntar quién ganó el Mundial de 2022. Mostrar que AtteliA no genera sin contexto.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874519"/>
            <a:ext cx="3474720" cy="3493008"/>
          </a:xfrm>
          <a:prstGeom prst="roundRect">
            <a:avLst/>
          </a:prstGeom>
          <a:solidFill>
            <a:srgbClr val="E4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7032" y="2130552"/>
            <a:ext cx="82296" cy="329184"/>
          </a:xfrm>
          <a:prstGeom prst="rect">
            <a:avLst/>
          </a:prstGeom>
          <a:solidFill>
            <a:srgbClr val="276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2075688"/>
            <a:ext cx="288950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1F2D2D"/>
                </a:solidFill>
                <a:latin typeface="DejaVu Sans"/>
              </a:defRPr>
            </a:pPr>
            <a:r>
              <a:t>C · Archivo nuevo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688336"/>
            <a:ext cx="2999232" cy="253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6F7A77"/>
                </a:solidFill>
                <a:latin typeface="DejaVu Sans"/>
              </a:defRPr>
            </a:pPr>
            <a:r>
              <a:t>Subir prueba_rag_attelia_aurora47.txt y preguntar por Aurora-47. Mostrar su fuente.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5769864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276D63"/>
                </a:solidFill>
                <a:latin typeface="DejaVu Sans"/>
              </a:defRPr>
            </a:pPr>
            <a:r>
              <a:t>Evidencia: capturar los resultados reales en Ubuntu y/o dominio público.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21207"/>
            <a:ext cx="109728" cy="237744"/>
          </a:xfrm>
          <a:prstGeom prst="rect">
            <a:avLst/>
          </a:prstGeom>
          <a:solidFill>
            <a:srgbClr val="AD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49377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AD8C56"/>
                </a:solidFill>
                <a:latin typeface="DejaVu Sans"/>
              </a:defRPr>
            </a:pPr>
            <a:r>
              <a:t>TRABAJO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1F2D2D"/>
                </a:solidFill>
                <a:latin typeface="DejaVu Sans"/>
              </a:defRPr>
            </a:pPr>
            <a:r>
              <a:t>Despliegue: listo para publicar, pendiente de verificar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91656"/>
            <a:ext cx="10936224" cy="13716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37376"/>
            <a:ext cx="82296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800" b="1" i="0">
                <a:solidFill>
                  <a:srgbClr val="6F7A77"/>
                </a:solidFill>
                <a:latin typeface="DejaVu Sans"/>
              </a:defRPr>
            </a:pPr>
            <a:r>
              <a:t>ATTELIA  /  ASESORA DOCUMENTAL DE MODA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816" y="6428232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F7A77"/>
                </a:solidFill>
                <a:latin typeface="DejaVu San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56231"/>
            <a:ext cx="5285232" cy="35753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112263"/>
            <a:ext cx="82296" cy="329184"/>
          </a:xfrm>
          <a:prstGeom prst="rect">
            <a:avLst/>
          </a:prstGeom>
          <a:solidFill>
            <a:srgbClr val="276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057400"/>
            <a:ext cx="470001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1F2D2D"/>
                </a:solidFill>
                <a:latin typeface="DejaVu Sans"/>
              </a:defRPr>
            </a:pPr>
            <a:r>
              <a:t>Preparación incluida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70048"/>
            <a:ext cx="4809744" cy="2615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1500" b="0" i="0">
                <a:solidFill>
                  <a:srgbClr val="6F7A77"/>
                </a:solidFill>
                <a:latin typeface="DejaVu Sans"/>
              </a:defRPr>
            </a:pPr>
            <a:r>
              <a:t>Dockerfiles de frontend/backend, Compose con Ollama y Caddy, persistencia y guía paso a paso.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856231"/>
            <a:ext cx="5285232" cy="3575304"/>
          </a:xfrm>
          <a:prstGeom prst="roundRect">
            <a:avLst/>
          </a:prstGeom>
          <a:solidFill>
            <a:srgbClr val="F3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91655" y="2112263"/>
            <a:ext cx="82296" cy="329184"/>
          </a:xfrm>
          <a:prstGeom prst="rect">
            <a:avLst/>
          </a:prstGeom>
          <a:solidFill>
            <a:srgbClr val="AE6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2057400"/>
            <a:ext cx="470001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1F2D2D"/>
                </a:solidFill>
                <a:latin typeface="DejaVu Sans"/>
              </a:defRPr>
            </a:pPr>
            <a:r>
              <a:t>Acciones del equipo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5" y="2670048"/>
            <a:ext cx="4809744" cy="2615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1500" b="0" i="0">
                <a:solidFill>
                  <a:srgbClr val="6F7A77"/>
                </a:solidFill>
                <a:latin typeface="DejaVu Sans"/>
              </a:defRPr>
            </a:pPr>
            <a:r>
              <a:t>Crear GitHub, configurar VPS + DNS, iniciar contenedores, indexar y probar HTTPS.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797296"/>
            <a:ext cx="1078077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276D63"/>
                </a:solidFill>
                <a:latin typeface="DejaVu Sans"/>
              </a:defRPr>
            </a:pPr>
            <a:r>
              <a:t>URL frontend: [PENDIENTE]    |    URL backend: [PENDIENTE]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21207"/>
            <a:ext cx="109728" cy="237744"/>
          </a:xfrm>
          <a:prstGeom prst="rect">
            <a:avLst/>
          </a:prstGeom>
          <a:solidFill>
            <a:srgbClr val="AD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49377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AD8C56"/>
                </a:solidFill>
                <a:latin typeface="DejaVu Sans"/>
              </a:defRPr>
            </a:pPr>
            <a:r>
              <a:t>TRABAJO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FFFFFF"/>
                </a:solidFill>
                <a:latin typeface="DejaVu Sans"/>
              </a:defRPr>
            </a:pPr>
            <a:r>
              <a:t>Conclusiones y siguientes verificaciones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91656"/>
            <a:ext cx="10936224" cy="13716"/>
          </a:xfrm>
          <a:prstGeom prst="rect">
            <a:avLst/>
          </a:prstGeom>
          <a:solidFill>
            <a:srgbClr val="6B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37376"/>
            <a:ext cx="82296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800" b="1" i="0">
                <a:solidFill>
                  <a:srgbClr val="B9CFC8"/>
                </a:solidFill>
                <a:latin typeface="DejaVu Sans"/>
              </a:defRPr>
            </a:pPr>
            <a:r>
              <a:t>ATTELIA  /  ASESORA DOCUMENTAL DE MODA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816" y="6428232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B9CFC8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920240"/>
            <a:ext cx="6766560" cy="3511296"/>
          </a:xfrm>
          <a:prstGeom prst="roundRect">
            <a:avLst/>
          </a:prstGeom>
          <a:solidFill>
            <a:srgbClr val="2C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2240280"/>
            <a:ext cx="60350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2300" b="1" i="0">
                <a:solidFill>
                  <a:srgbClr val="FFFFFF"/>
                </a:solidFill>
                <a:latin typeface="DejaVu Sans"/>
              </a:defRPr>
            </a:pPr>
            <a:r>
              <a:t>Logros del desarrollo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803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5EAE6"/>
                </a:solidFill>
                <a:latin typeface="DejaVu Sans"/>
              </a:defRPr>
            </a:pPr>
            <a:r>
              <a:t>•  Arquitectura RAG codificada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5EAE6"/>
                </a:solidFill>
                <a:latin typeface="DejaVu Sans"/>
              </a:defRPr>
            </a:pPr>
            <a:r>
              <a:t>•  Carga documental personalizada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5EAE6"/>
                </a:solidFill>
                <a:latin typeface="DejaVu Sans"/>
              </a:defRPr>
            </a:pPr>
            <a:r>
              <a:t>•  Rechazo cuando faltan fuentes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5EAE6"/>
                </a:solidFill>
                <a:latin typeface="DejaVu Sans"/>
              </a:defRPr>
            </a:pPr>
            <a:r>
              <a:t>•  Autenticación y controles de acceso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54112" y="1920240"/>
            <a:ext cx="3785615" cy="3511296"/>
          </a:xfrm>
          <a:prstGeom prst="roundRect">
            <a:avLst/>
          </a:prstGeom>
          <a:solidFill>
            <a:srgbClr val="365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55864" y="2240280"/>
            <a:ext cx="32004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2100" b="1" i="0">
                <a:solidFill>
                  <a:srgbClr val="FFFFFF"/>
                </a:solidFill>
                <a:latin typeface="DejaVu Sans"/>
              </a:defRPr>
            </a:pPr>
            <a:r>
              <a:t>Para la entrega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2898648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500" b="0" i="0">
                <a:solidFill>
                  <a:srgbClr val="E5EAE6"/>
                </a:solidFill>
                <a:latin typeface="DejaVu Sans"/>
              </a:defRPr>
            </a:pPr>
            <a:r>
              <a:t>•  Ollama probado en WSL</a:t>
            </a:r>
          </a:p>
          <a:p>
            <a:pPr>
              <a:spcAft>
                <a:spcPts val="600"/>
              </a:spcAft>
              <a:defRPr sz="1500" b="0" i="0">
                <a:solidFill>
                  <a:srgbClr val="E5EAE6"/>
                </a:solidFill>
                <a:latin typeface="DejaVu Sans"/>
              </a:defRPr>
            </a:pPr>
            <a:r>
              <a:t>•  Calibrar la búsqueda</a:t>
            </a:r>
          </a:p>
          <a:p>
            <a:pPr>
              <a:spcAft>
                <a:spcPts val="600"/>
              </a:spcAft>
              <a:defRPr sz="1500" b="0" i="0">
                <a:solidFill>
                  <a:srgbClr val="E5EAE6"/>
                </a:solidFill>
                <a:latin typeface="DejaVu Sans"/>
              </a:defRPr>
            </a:pPr>
            <a:r>
              <a:t>•  Evidencias ya capturadas</a:t>
            </a:r>
          </a:p>
          <a:p>
            <a:pPr>
              <a:spcAft>
                <a:spcPts val="600"/>
              </a:spcAft>
              <a:defRPr sz="1500" b="0" i="0">
                <a:solidFill>
                  <a:srgbClr val="E5EAE6"/>
                </a:solidFill>
                <a:latin typeface="DejaVu Sans"/>
              </a:defRPr>
            </a:pPr>
            <a:r>
              <a:t>•  Publicar URL y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5916168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  <a:defRPr sz="1300" b="1" i="0">
                <a:solidFill>
                  <a:srgbClr val="DEC99F"/>
                </a:solidFill>
                <a:latin typeface="DejaVu Sans"/>
              </a:defRPr>
            </a:pPr>
            <a:r>
              <a:t>ATTELIA  ·  RESPUESTAS RESPONSABLES BASADAS EN DOCUMENTOS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B19567"/>
                </a:solidFill>
                <a:latin typeface="DejaVu Sans"/>
              </a:defRPr>
            </a:pPr>
            <a:r>
              <a:t>EVIDENCIAS REALES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202C2D"/>
                </a:solidFill>
                <a:latin typeface="DejaVu Sans"/>
              </a:defRPr>
            </a:pPr>
            <a:r>
              <a:t>Pruebas funcionales verificadas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019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F6F68"/>
                </a:solidFill>
                <a:latin typeface="DejaVu Sans"/>
              </a:defRPr>
            </a:pPr>
            <a:r>
              <a:t>RAG documental: Aurora-47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901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F6F68"/>
                </a:solidFill>
                <a:latin typeface="DejaVu Sans"/>
              </a:defRPr>
            </a:pPr>
            <a:r>
              <a:t>Rechazo sin evidencia</a:t>
            </a:r>
          </a:p>
        </p:txBody>
      </p:sp>
      <p:pic>
        <p:nvPicPr>
          <p:cNvPr id="6" name="Picture 5" descr="image(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5285232" cy="1499249"/>
          </a:xfrm>
          <a:prstGeom prst="rect">
            <a:avLst/>
          </a:prstGeom>
        </p:spPr>
      </p:pic>
      <p:pic>
        <p:nvPicPr>
          <p:cNvPr id="7" name="Picture 6" descr="questio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7" y="2377440"/>
            <a:ext cx="3657600" cy="1062207"/>
          </a:xfrm>
          <a:prstGeom prst="rect">
            <a:avLst/>
          </a:prstGeom>
        </p:spPr>
      </p:pic>
      <p:pic>
        <p:nvPicPr>
          <p:cNvPr id="8" name="Picture 7" descr="answer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3584448"/>
            <a:ext cx="5056632" cy="4371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" y="4434840"/>
            <a:ext cx="5230368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0" sz="1300">
                <a:solidFill>
                  <a:srgbClr val="202C2D"/>
                </a:solidFill>
                <a:latin typeface="DejaVu Sans"/>
              </a:defRPr>
            </a:pPr>
            <a:r>
              <a:t>Carga TXT -&gt; recuperación del documento -&gt; respuesta exacta con fuente.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434840"/>
            <a:ext cx="50292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0" sz="1300">
                <a:solidFill>
                  <a:srgbClr val="202C2D"/>
                </a:solidFill>
                <a:latin typeface="DejaVu Sans"/>
              </a:defRPr>
            </a:pPr>
            <a:r>
              <a:t>Pregunta sobre el Mundial de 2022 -&gt; rechazo por ausencia de contexto.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33872"/>
            <a:ext cx="10881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F6F68"/>
                </a:solidFill>
                <a:latin typeface="DejaVu Sans"/>
              </a:defRPr>
            </a:pPr>
            <a:r>
              <a:t>Pruebas efectuadas localmente en Ubuntu/WSL con Ollama. Despliegue público aún pendiente.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