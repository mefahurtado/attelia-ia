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7" r:id="rId18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418320" y="-548640"/>
            <a:ext cx="3749039" cy="8046720"/>
          </a:xfrm>
          <a:prstGeom prst="roundRect">
            <a:avLst/>
          </a:prstGeom>
          <a:solidFill>
            <a:srgbClr val="284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58400" y="228600"/>
            <a:ext cx="1143000" cy="1143000"/>
          </a:xfrm>
          <a:prstGeom prst="round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33271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300" b="1" i="0">
                <a:solidFill>
                  <a:srgbClr val="DAC59B"/>
                </a:solidFill>
                <a:latin typeface="DejaVu Sans"/>
              </a:defRPr>
            </a:pPr>
            <a:r>
              <a:t>TRABAJO FINAL  /  LANGCHAIN · LANGGRAPH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810512"/>
            <a:ext cx="822960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5400" b="1" i="0">
                <a:solidFill>
                  <a:srgbClr val="FFFFFF"/>
                </a:solidFill>
                <a:latin typeface="DejaVu Sans"/>
              </a:defRPr>
            </a:pPr>
            <a:r>
              <a:t>AtteliA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82112"/>
            <a:ext cx="864108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2500" b="0" i="0">
                <a:solidFill>
                  <a:srgbClr val="E1E7E0"/>
                </a:solidFill>
                <a:latin typeface="DejaVu Sans"/>
              </a:defRPr>
            </a:pPr>
            <a:r>
              <a:t>Tu asesora inteligente de moda,</a:t>
            </a:r>
          </a:p>
          <a:p>
            <a:pPr>
              <a:spcAft>
                <a:spcPts val="600"/>
              </a:spcAft>
              <a:defRPr sz="2500" b="0" i="0">
                <a:solidFill>
                  <a:srgbClr val="E1E7E0"/>
                </a:solidFill>
                <a:latin typeface="DejaVu Sans"/>
              </a:defRPr>
            </a:pPr>
            <a:r>
              <a:t>con respuestas respaldadas por documentos.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303520"/>
            <a:ext cx="3154680" cy="5486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32704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1" i="0">
                <a:solidFill>
                  <a:srgbClr val="C5CFCB"/>
                </a:solidFill>
                <a:latin typeface="DejaVu Sans"/>
              </a:defRPr>
            </a:pPr>
            <a:r>
              <a:t>STEFANY HURTADO MARIN  /  IMPLEMENTACIÓN DE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3184" y="605332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1000" b="1" i="0">
                <a:solidFill>
                  <a:srgbClr val="E0D2B7"/>
                </a:solidFill>
                <a:latin typeface="DejaVu Sans"/>
              </a:defRPr>
            </a:pPr>
            <a: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El problema: IA sin evidencia verificable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874519"/>
            <a:ext cx="3511296" cy="3310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213055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075688"/>
            <a:ext cx="29260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Preguntas cotidianas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88336"/>
            <a:ext cx="3035808" cy="2350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¿Qué colores combinan? ¿Qué calzado conviene? ¿Cómo aprovechar prendas existentes?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511296" cy="3310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44568" y="2130552"/>
            <a:ext cx="82296" cy="329184"/>
          </a:xfrm>
          <a:prstGeom prst="rect">
            <a:avLst/>
          </a:prstGeom>
          <a:solidFill>
            <a:srgbClr val="B67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2075688"/>
            <a:ext cx="29260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Riesgo generativo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688336"/>
            <a:ext cx="3035808" cy="2350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Un asistente puede improvisar consejos sin mostrar de dónde proviene la información.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74519"/>
            <a:ext cx="3493008" cy="3310128"/>
          </a:xfrm>
          <a:prstGeom prst="roundRect">
            <a:avLst/>
          </a:prstGeom>
          <a:solidFill>
            <a:srgbClr val="E4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213055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075688"/>
            <a:ext cx="2907791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Propuesta AtteliA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88336"/>
            <a:ext cx="3017520" cy="2350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Responder con documentos recuperados, citar fuentes y rechazar cuando no haya sustento.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7150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600" b="1" i="0">
                <a:solidFill>
                  <a:srgbClr val="276D63"/>
                </a:solidFill>
                <a:latin typeface="DejaVu Sans"/>
              </a:defRPr>
            </a:pPr>
            <a:r>
              <a:t>OBJETIVO  →  Consulta confiable y base de conocimiento ampliable.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Arquitectura: web + agente + modelo local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03</a:t>
            </a:r>
          </a:p>
        </p:txBody>
      </p:sp>
      <p:pic>
        <p:nvPicPr>
          <p:cNvPr id="8" name="Picture 7" descr="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7088"/>
            <a:ext cx="1097280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Stack: componentes especializados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02536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500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React + 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871215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Experiencia conversacional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1874519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002536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23500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FastAPI + SQLite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871215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REST, usuarios e historial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75904" y="1874519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002536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GRAFO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3500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LangGraph + LangChain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871215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Decisiones y herramientas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03320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831335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LLM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41788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Ollama · qwen2.5:3b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700016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Generación en servidor propio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3703320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45736" y="3831335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5736" y="41788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bge-m3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45736" y="4700016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Representaciones vectoriales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75904" y="3703320"/>
            <a:ext cx="3621024" cy="15819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13648" y="3831335"/>
            <a:ext cx="3218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100" b="1" i="0">
                <a:solidFill>
                  <a:srgbClr val="AD8C56"/>
                </a:solidFill>
                <a:latin typeface="DejaVu Sans"/>
              </a:defRPr>
            </a:pPr>
            <a:r>
              <a:t>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4178808"/>
            <a:ext cx="32186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ChromaDB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4700016"/>
            <a:ext cx="321868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200" b="0" i="0">
                <a:solidFill>
                  <a:srgbClr val="6F7A77"/>
                </a:solidFill>
                <a:latin typeface="DejaVu Sans"/>
              </a:defRPr>
            </a:pPr>
            <a:r>
              <a:t>Índice y fuentes persistentes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LangGraph: responder o rechazar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05</a:t>
            </a:r>
          </a:p>
        </p:txBody>
      </p:sp>
      <p:pic>
        <p:nvPicPr>
          <p:cNvPr id="8" name="Picture 7" descr="lang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19072"/>
            <a:ext cx="10981944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5952744"/>
            <a:ext cx="106070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300" b="1" i="0">
                <a:solidFill>
                  <a:srgbClr val="276D63"/>
                </a:solidFill>
                <a:latin typeface="DejaVu Sans"/>
              </a:defRPr>
            </a:pPr>
            <a:r>
              <a:t>Ruta crítica: si NO hay contexto suficiente, la generación no se ejecuta.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RAG incremental y base de conocimiento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1828800"/>
            <a:ext cx="32461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084832"/>
            <a:ext cx="82296" cy="32918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029968"/>
            <a:ext cx="266090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01 · Ingesta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642616"/>
            <a:ext cx="277063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PDF · DOCX · TXT · Markdown · CSV. Extracción y fragmentación de texto.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828800"/>
            <a:ext cx="32461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1" y="208483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5" y="2029968"/>
            <a:ext cx="266090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02 ·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42616"/>
            <a:ext cx="2770632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bge-m3 convierte fragmentos en vectores; ChromaDB los persiste por usuario.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71816" y="1828800"/>
            <a:ext cx="3831336" cy="2926080"/>
          </a:xfrm>
          <a:prstGeom prst="roundRect">
            <a:avLst/>
          </a:prstGeom>
          <a:solidFill>
            <a:srgbClr val="E4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2984" y="208483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5008" y="2029968"/>
            <a:ext cx="32461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03 · Recuperación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2642616"/>
            <a:ext cx="335584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Similitud + filtro léxico + umbral y fuentes. Sin evidencia → rechazo.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093208"/>
            <a:ext cx="10826496" cy="713232"/>
          </a:xfrm>
          <a:prstGeom prst="roundRect">
            <a:avLst/>
          </a:prstGeom>
          <a:solidFill>
            <a:srgbClr val="EDE7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93792"/>
            <a:ext cx="10341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  <a:defRPr sz="1600" b="1" i="0">
                <a:solidFill>
                  <a:srgbClr val="1F2D2D"/>
                </a:solidFill>
                <a:latin typeface="DejaVu Sans"/>
              </a:defRPr>
            </a:pPr>
            <a:r>
              <a:t>Corpus base: 6 volúmenes   +   documentos privados por cuenta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Seguridad: cada usuario, sus documentos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76672" cy="3502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7" y="217627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21408"/>
            <a:ext cx="4791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Autenticación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34056"/>
            <a:ext cx="4901183" cy="2542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Registro y login; contraseñas con scrypt y salt; sesión Bearer; expiración a los siete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920240"/>
            <a:ext cx="5349240" cy="3502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5" y="2176272"/>
            <a:ext cx="82296" cy="32918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2121408"/>
            <a:ext cx="47640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Autorización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5" y="2734056"/>
            <a:ext cx="4873752" cy="2542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API protegida; historial por usuario; metadatos SQLite; índices Chroma personales.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5788152"/>
            <a:ext cx="108447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400" b="1" i="0">
                <a:solidFill>
                  <a:srgbClr val="276D63"/>
                </a:solidFill>
                <a:latin typeface="DejaVu Sans"/>
              </a:defRPr>
            </a:pPr>
            <a:r>
              <a:t>Producción: HTTPS con Caddy · credenciales fuera de Git · Ollama no expuesto.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Demostración en vivo: tres escenarios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511296" cy="3493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7" y="213055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075688"/>
            <a:ext cx="29260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A · Respuesta válida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688336"/>
            <a:ext cx="3035808" cy="2532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Preguntar qué es un armario cápsula. Mostrar respuesta y nombre de la fuente.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874519"/>
            <a:ext cx="3511296" cy="3493008"/>
          </a:xfrm>
          <a:prstGeom prst="roundRect">
            <a:avLst/>
          </a:prstGeom>
          <a:solidFill>
            <a:srgbClr val="F3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2130552"/>
            <a:ext cx="82296" cy="329184"/>
          </a:xfrm>
          <a:prstGeom prst="rect">
            <a:avLst/>
          </a:prstGeom>
          <a:solidFill>
            <a:srgbClr val="AE6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075688"/>
            <a:ext cx="292607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B · Rechazo explícito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2688336"/>
            <a:ext cx="3035808" cy="2532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Preguntar quién ganó el Mundial de 2022. Mostrar que AtteliA no genera sin contexto.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874519"/>
            <a:ext cx="3474720" cy="3493008"/>
          </a:xfrm>
          <a:prstGeom prst="roundRect">
            <a:avLst/>
          </a:prstGeom>
          <a:solidFill>
            <a:srgbClr val="E4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57032" y="2130552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75688"/>
            <a:ext cx="288950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700" b="1" i="0">
                <a:solidFill>
                  <a:srgbClr val="1F2D2D"/>
                </a:solidFill>
                <a:latin typeface="DejaVu Sans"/>
              </a:defRPr>
            </a:pPr>
            <a:r>
              <a:t>C · Archivo nuevo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688336"/>
            <a:ext cx="2999232" cy="2532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400" b="0" i="0">
                <a:solidFill>
                  <a:srgbClr val="6F7A77"/>
                </a:solidFill>
                <a:latin typeface="DejaVu Sans"/>
              </a:defRPr>
            </a:pPr>
            <a:r>
              <a:t>Subir prueba_rag_attelia_aurora47.txt y preguntar por Aurora-47. Mostrar su fuente.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769864"/>
            <a:ext cx="10881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400" b="1" i="0">
                <a:solidFill>
                  <a:srgbClr val="276D63"/>
                </a:solidFill>
                <a:latin typeface="DejaVu Sans"/>
              </a:defRPr>
            </a:pPr>
            <a:r>
              <a:t>Evidencia: capturar los resultados reales en Ubuntu y/o dominio público.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B19567"/>
                </a:solidFill>
                <a:latin typeface="DejaVu Sans"/>
              </a:defRPr>
            </a:pPr>
            <a:r>
              <a:t>EVIDENCIAS REALES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77824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202C2D"/>
                </a:solidFill>
                <a:latin typeface="DejaVu Sans"/>
              </a:defRPr>
            </a:pPr>
            <a:r>
              <a:t>Pruebas funcionales verificadas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019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F6F68"/>
                </a:solidFill>
                <a:latin typeface="DejaVu Sans"/>
              </a:defRPr>
            </a:pPr>
            <a:r>
              <a:t>RAG documental: Aurora-47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F6F68"/>
                </a:solidFill>
                <a:latin typeface="DejaVu Sans"/>
              </a:defRPr>
            </a:pPr>
            <a:r>
              <a:t>Rechazo sin evidencia</a:t>
            </a:r>
          </a:p>
        </p:txBody>
      </p:sp>
      <p:pic>
        <p:nvPicPr>
          <p:cNvPr id="6" name="Picture 5" descr="image(8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285232" cy="1499249"/>
          </a:xfrm>
          <a:prstGeom prst="rect">
            <a:avLst/>
          </a:prstGeom>
        </p:spPr>
      </p:pic>
      <p:pic>
        <p:nvPicPr>
          <p:cNvPr id="7" name="Picture 6" descr="question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7" y="2377440"/>
            <a:ext cx="3657600" cy="1062207"/>
          </a:xfrm>
          <a:prstGeom prst="rect">
            <a:avLst/>
          </a:prstGeom>
        </p:spPr>
      </p:pic>
      <p:pic>
        <p:nvPicPr>
          <p:cNvPr id="8" name="Picture 7" descr="answe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3584448"/>
            <a:ext cx="5056632" cy="4371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6384" y="4434840"/>
            <a:ext cx="52303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300">
                <a:solidFill>
                  <a:srgbClr val="202C2D"/>
                </a:solidFill>
                <a:latin typeface="DejaVu Sans"/>
              </a:defRPr>
            </a:pPr>
            <a:r>
              <a:t>Carga TXT -&gt; recuperación del documento -&gt; respuesta exacta con fuente.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434840"/>
            <a:ext cx="50292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0" sz="1300">
                <a:solidFill>
                  <a:srgbClr val="202C2D"/>
                </a:solidFill>
                <a:latin typeface="DejaVu Sans"/>
              </a:defRPr>
            </a:pPr>
            <a:r>
              <a:t>Pregunta sobre el Mundial de 2022 -&gt; rechazo por ausencia de contexto.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33872"/>
            <a:ext cx="108813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F6F68"/>
                </a:solidFill>
                <a:latin typeface="DejaVu Sans"/>
              </a:defRPr>
            </a:pPr>
            <a:r>
              <a:t>Pruebas en Ubuntu/WSL con Ollama; acceso remoto temporal verificado por Cloudflare.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1F2D2D"/>
                </a:solidFill>
                <a:latin typeface="DejaVu Sans"/>
              </a:defRPr>
            </a:pPr>
            <a:r>
              <a:t>Publicación temporal HTTPS: probada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6F7A77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6F7A77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56231"/>
            <a:ext cx="5285232" cy="35753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12263"/>
            <a:ext cx="82296" cy="329184"/>
          </a:xfrm>
          <a:prstGeom prst="rect">
            <a:avLst/>
          </a:prstGeom>
          <a:solidFill>
            <a:srgbClr val="276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057400"/>
            <a:ext cx="47000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Arquitectura publicada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0048"/>
            <a:ext cx="4809744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React y API integrados en el puerto 8080, publicados con Cloudflare Quick Tunnel desde Ubuntu/WSL.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56231"/>
            <a:ext cx="5285232" cy="3575304"/>
          </a:xfrm>
          <a:prstGeom prst="roundRect">
            <a:avLst/>
          </a:prstGeom>
          <a:solidFill>
            <a:srgbClr val="F3E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5" y="2112263"/>
            <a:ext cx="82296" cy="329184"/>
          </a:xfrm>
          <a:prstGeom prst="rect">
            <a:avLst/>
          </a:prstGeom>
          <a:solidFill>
            <a:srgbClr val="AE6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2057400"/>
            <a:ext cx="47000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1" i="0">
                <a:solidFill>
                  <a:srgbClr val="1F2D2D"/>
                </a:solidFill>
                <a:latin typeface="DejaVu Sans"/>
              </a:defRPr>
            </a:pPr>
            <a:r>
              <a:t>Evidencia y límite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5" y="2670048"/>
            <a:ext cx="4809744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6F7A77"/>
                </a:solidFill>
                <a:latin typeface="DejaVu Sans"/>
              </a:defRPr>
            </a:pPr>
            <a:r>
              <a:t>GitHub público y acceso desde PC y celular confirmados. Oracle Always Free no disponible (AD-1).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5797296"/>
            <a:ext cx="10780776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400" b="1" i="0">
                <a:solidFill>
                  <a:srgbClr val="276D63"/>
                </a:solidFill>
                <a:latin typeface="DejaVu Sans"/>
              </a:defRPr>
            </a:pPr>
            <a:r>
              <a:t>URL temporal: adventures-cgi-visibility-complement.trycloudflare.com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21207"/>
            <a:ext cx="109728" cy="237744"/>
          </a:xfrm>
          <a:prstGeom prst="rect">
            <a:avLst/>
          </a:prstGeom>
          <a:solidFill>
            <a:srgbClr val="AD8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" y="4937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000" b="1" i="0">
                <a:solidFill>
                  <a:srgbClr val="AD8C56"/>
                </a:solidFill>
                <a:latin typeface="DejaVu Sans"/>
              </a:defRPr>
            </a:pPr>
            <a:r>
              <a:t>TRABAJO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  <a:defRPr sz="2700" b="1" i="0">
                <a:solidFill>
                  <a:srgbClr val="FFFFFF"/>
                </a:solidFill>
                <a:latin typeface="DejaVu Sans"/>
              </a:defRPr>
            </a:pPr>
            <a:r>
              <a:t>Conclusiones y alcance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391656"/>
            <a:ext cx="10936224" cy="13716"/>
          </a:xfrm>
          <a:prstGeom prst="rect">
            <a:avLst/>
          </a:prstGeom>
          <a:solidFill>
            <a:srgbClr val="6B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37376"/>
            <a:ext cx="82296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800" b="1" i="0">
                <a:solidFill>
                  <a:srgbClr val="B9CFC8"/>
                </a:solidFill>
                <a:latin typeface="DejaVu Sans"/>
              </a:defRPr>
            </a:pPr>
            <a:r>
              <a:t>ATTELIA  /  ASESORA DOCUMENTAL DE MODA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428232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  <a:defRPr sz="900" b="1" i="0">
                <a:solidFill>
                  <a:srgbClr val="B9CFC8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920240"/>
            <a:ext cx="6766560" cy="3511296"/>
          </a:xfrm>
          <a:prstGeom prst="roundRect">
            <a:avLst/>
          </a:prstGeom>
          <a:solidFill>
            <a:srgbClr val="2C4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5" y="2240280"/>
            <a:ext cx="60350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2300" b="1" i="0">
                <a:solidFill>
                  <a:srgbClr val="FFFFFF"/>
                </a:solidFill>
                <a:latin typeface="DejaVu Sans"/>
              </a:defRPr>
            </a:pPr>
            <a:r>
              <a:t>Logros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80360"/>
            <a:ext cx="60350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800" b="0" i="0">
                <a:solidFill>
                  <a:srgbClr val="E5EAE6"/>
                </a:solidFill>
                <a:latin typeface="DejaVu Sans"/>
              </a:defRPr>
            </a:pPr>
            <a:r>
              <a:t>•  Arquitectura RAG codificada</a:t>
            </a:r>
          </a:p>
          <a:p>
            <a:pPr>
              <a:spcAft>
                <a:spcPts val="600"/>
              </a:spcAft>
              <a:defRPr sz="1800" b="0" i="0">
                <a:solidFill>
                  <a:srgbClr val="E5EAE6"/>
                </a:solidFill>
                <a:latin typeface="DejaVu Sans"/>
              </a:defRPr>
            </a:pPr>
            <a:r>
              <a:t>•  Carga documental personalizada</a:t>
            </a:r>
          </a:p>
          <a:p>
            <a:pPr>
              <a:spcAft>
                <a:spcPts val="600"/>
              </a:spcAft>
              <a:defRPr sz="1800" b="0" i="0">
                <a:solidFill>
                  <a:srgbClr val="E5EAE6"/>
                </a:solidFill>
                <a:latin typeface="DejaVu Sans"/>
              </a:defRPr>
            </a:pPr>
            <a:r>
              <a:t>•  Rechazo cuando faltan fuentes</a:t>
            </a:r>
          </a:p>
          <a:p>
            <a:pPr>
              <a:spcAft>
                <a:spcPts val="600"/>
              </a:spcAft>
              <a:defRPr sz="1800" b="0" i="0">
                <a:solidFill>
                  <a:srgbClr val="E5EAE6"/>
                </a:solidFill>
                <a:latin typeface="DejaVu Sans"/>
              </a:defRPr>
            </a:pPr>
            <a:r>
              <a:t>•  Autenticación y controles de acceso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920240"/>
            <a:ext cx="3785615" cy="3511296"/>
          </a:xfrm>
          <a:prstGeom prst="roundRect">
            <a:avLst/>
          </a:prstGeom>
          <a:solidFill>
            <a:srgbClr val="365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4" y="2240280"/>
            <a:ext cx="32004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2100" b="1" i="0">
                <a:solidFill>
                  <a:srgbClr val="FFFFFF"/>
                </a:solidFill>
                <a:latin typeface="DejaVu Sans"/>
              </a:defRPr>
            </a:pPr>
            <a:r>
              <a:t>Para la entrega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4152" y="2898648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500" b="0" i="0">
                <a:solidFill>
                  <a:srgbClr val="E5EAE6"/>
                </a:solidFill>
                <a:latin typeface="DejaVu Sans"/>
              </a:defRPr>
            </a:pPr>
            <a:r>
              <a:t>•  GitHub publicado
•  HTTPS temporal probado
•  Acceso desde celular
•  Cloud permanente pendiente</a:t>
            </a:r>
          </a:p>
          <a:p>
            <a:pPr>
              <a:spcAft>
                <a:spcPts val="600"/>
              </a:spcAft>
              <a:defRPr sz="1500" b="0" i="0">
                <a:solidFill>
                  <a:srgbClr val="E5EAE6"/>
                </a:solidFill>
                <a:latin typeface="DejaVu Sans"/>
              </a:defRPr>
            </a:pPr>
            <a:r>
              <a:t/>
            </a:r>
          </a:p>
          <a:p>
            <a:pPr>
              <a:spcAft>
                <a:spcPts val="600"/>
              </a:spcAft>
              <a:defRPr sz="1500" b="0" i="0">
                <a:solidFill>
                  <a:srgbClr val="E5EAE6"/>
                </a:solidFill>
                <a:latin typeface="DejaVu Sans"/>
              </a:defRPr>
            </a:pPr>
            <a:r>
              <a:t/>
            </a:r>
          </a:p>
          <a:p>
            <a:pPr>
              <a:spcAft>
                <a:spcPts val="600"/>
              </a:spcAft>
              <a:defRPr sz="1500" b="0" i="0">
                <a:solidFill>
                  <a:srgbClr val="E5EAE6"/>
                </a:solidFill>
                <a:latin typeface="DejaVu Sans"/>
              </a:defRPr>
            </a:pPr>
            <a: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916168"/>
            <a:ext cx="10424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  <a:defRPr sz="1300" b="1" i="0">
                <a:solidFill>
                  <a:srgbClr val="DEC99F"/>
                </a:solidFill>
                <a:latin typeface="DejaVu Sans"/>
              </a:defRPr>
            </a:pPr>
            <a:r>
              <a:t>ATTELIA  ·  RESPUESTAS RESPONSABLES BASADAS EN DOCUMENTOS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1002975" cy="256032"/>
          </a:xfrm>
          <a:prstGeom prst="rect">
            <a:avLst/>
          </a:prstGeom>
          <a:noFill/>
        </p:spPr>
        <p:txBody>
          <a:bodyPr wrap="square" lIns="27432" tIns="22860">
            <a:spAutoFit/>
          </a:bodyPr>
          <a:lstStyle/>
          <a:p>
            <a:pPr>
              <a:defRPr sz="1100" b="1">
                <a:solidFill>
                  <a:srgbClr val="7F684E"/>
                </a:solidFill>
              </a:defRPr>
            </a:pPr>
            <a:r>
              <a:t>ATTELIA  /  EVIDENCIA DE ACCESO EXTERNO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67512"/>
            <a:ext cx="11002975" cy="502920"/>
          </a:xfrm>
          <a:prstGeom prst="rect">
            <a:avLst/>
          </a:prstGeom>
          <a:noFill/>
        </p:spPr>
        <p:txBody>
          <a:bodyPr wrap="square" lIns="27432" tIns="22860">
            <a:spAutoFit/>
          </a:bodyPr>
          <a:lstStyle/>
          <a:p>
            <a:pPr>
              <a:defRPr sz="2500" b="1">
                <a:solidFill>
                  <a:srgbClr val="24211D"/>
                </a:solidFill>
              </a:defRPr>
            </a:pPr>
            <a:r>
              <a:t>Acceso desde Internet: PC + 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52728"/>
            <a:ext cx="11002975" cy="365760"/>
          </a:xfrm>
          <a:prstGeom prst="rect">
            <a:avLst/>
          </a:prstGeom>
          <a:noFill/>
        </p:spPr>
        <p:txBody>
          <a:bodyPr wrap="square" lIns="27432" tIns="22860">
            <a:spAutoFit/>
          </a:bodyPr>
          <a:lstStyle/>
          <a:p>
            <a:pPr>
              <a:defRPr sz="1200" b="0">
                <a:solidFill>
                  <a:srgbClr val="4F4740"/>
                </a:solidFill>
              </a:defRPr>
            </a:pPr>
            <a:r>
              <a:t>Cloudflare Quick Tunnel permite acceder desde fuera de la red local; el servicio sigue en Ubuntu.</a:t>
            </a:r>
          </a:p>
        </p:txBody>
      </p:sp>
      <p:pic>
        <p:nvPicPr>
          <p:cNvPr id="5" name="Picture 4" descr="AtteliA_Evidencia_URL_Publ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7452360" cy="3832642"/>
          </a:xfrm>
          <a:prstGeom prst="rect">
            <a:avLst/>
          </a:prstGeom>
        </p:spPr>
      </p:pic>
      <p:pic>
        <p:nvPicPr>
          <p:cNvPr id="6" name="Picture 5" descr="image(20261019-031410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37360"/>
            <a:ext cx="193881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5650992"/>
            <a:ext cx="7818120" cy="365760"/>
          </a:xfrm>
          <a:prstGeom prst="rect">
            <a:avLst/>
          </a:prstGeom>
          <a:noFill/>
        </p:spPr>
        <p:txBody>
          <a:bodyPr wrap="square" lIns="27432" tIns="22860">
            <a:spAutoFit/>
          </a:bodyPr>
          <a:lstStyle/>
          <a:p>
            <a:pPr>
              <a:defRPr sz="1100" b="1">
                <a:solidFill>
                  <a:srgbClr val="33312C"/>
                </a:solidFill>
              </a:defRPr>
            </a:pPr>
            <a:r>
              <a:t>GitHub: github.com/mefaHurtado/attelia-ia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0176"/>
            <a:ext cx="11002975" cy="493776"/>
          </a:xfrm>
          <a:prstGeom prst="rect">
            <a:avLst/>
          </a:prstGeom>
          <a:noFill/>
        </p:spPr>
        <p:txBody>
          <a:bodyPr wrap="square" lIns="27432" tIns="22860">
            <a:spAutoFit/>
          </a:bodyPr>
          <a:lstStyle/>
          <a:p>
            <a:pPr>
              <a:defRPr sz="1000" b="0">
                <a:solidFill>
                  <a:srgbClr val="625546"/>
                </a:solidFill>
              </a:defRPr>
            </a:pPr>
            <a:r>
              <a:t>URL HTTPS temporal: adventures-cgi-visibility-complement.trycloudflare.com  ·  La nube permanente continúa pendiente.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